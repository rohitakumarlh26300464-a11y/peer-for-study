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Neue Haas Grotesk Text Pro" panose="020B0504020202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6011"/>
            <a:ext cx="18022824" cy="7680959"/>
          </a:xfrm>
        </p:spPr>
        <p:txBody>
          <a:bodyPr>
            <a:normAutofit/>
          </a:bodyPr>
          <a:lstStyle>
            <a:lvl1pPr>
              <a:defRPr sz="165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204" y="8041317"/>
            <a:ext cx="15055596" cy="850392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624891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325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9"/>
            <a:ext cx="16260939" cy="11857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203" y="2821134"/>
            <a:ext cx="16260941" cy="6837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29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771" y="7014266"/>
            <a:ext cx="16253459" cy="197926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1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771" y="9097701"/>
            <a:ext cx="16253459" cy="560649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3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"/>
            <a:ext cx="18287999" cy="670174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8572500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10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9585" y="2117038"/>
            <a:ext cx="5604015" cy="426835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9583" y="6604559"/>
            <a:ext cx="5594873" cy="16846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1426678" cy="10287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69583" y="9658350"/>
            <a:ext cx="2571452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44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5367"/>
            <a:ext cx="15055596" cy="7738886"/>
          </a:xfrm>
        </p:spPr>
        <p:txBody>
          <a:bodyPr>
            <a:normAutofit/>
          </a:bodyPr>
          <a:lstStyle>
            <a:lvl1pPr>
              <a:defRPr sz="1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119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410" y="1633054"/>
            <a:ext cx="12718608" cy="209333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45046" y="3726383"/>
            <a:ext cx="12701337" cy="5309271"/>
          </a:xfrm>
        </p:spPr>
        <p:txBody>
          <a:bodyPr>
            <a:normAutofit/>
          </a:bodyPr>
          <a:lstStyle>
            <a:lvl1pPr marL="685800" indent="-685800">
              <a:lnSpc>
                <a:spcPct val="100000"/>
              </a:lnSpc>
              <a:buFont typeface="+mj-lt"/>
              <a:buAutoNum type="arabicPeriod"/>
              <a:defRPr sz="3000"/>
            </a:lvl1pPr>
            <a:lvl2pPr marL="1028700" indent="-685800">
              <a:lnSpc>
                <a:spcPct val="100000"/>
              </a:lnSpc>
              <a:buFont typeface="+mj-lt"/>
              <a:buAutoNum type="arabicPeriod"/>
              <a:defRPr sz="3000"/>
            </a:lvl2pPr>
            <a:lvl3pPr marL="1200150" indent="-514350">
              <a:lnSpc>
                <a:spcPct val="100000"/>
              </a:lnSpc>
              <a:buFont typeface="+mj-lt"/>
              <a:buAutoNum type="arabicPeriod"/>
              <a:defRPr sz="3000"/>
            </a:lvl3pPr>
            <a:lvl4pPr marL="1543050" indent="-514350">
              <a:lnSpc>
                <a:spcPct val="100000"/>
              </a:lnSpc>
              <a:buFont typeface="+mj-lt"/>
              <a:buAutoNum type="arabicPeriod"/>
              <a:defRPr sz="3000"/>
            </a:lvl4pPr>
            <a:lvl5pPr marL="1885950" indent="-514350">
              <a:lnSpc>
                <a:spcPct val="100000"/>
              </a:lnSpc>
              <a:buFont typeface="+mj-lt"/>
              <a:buAutoNum type="arabicPeriod"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12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2204"/>
            <a:ext cx="8624088" cy="2331720"/>
          </a:xfrm>
        </p:spPr>
        <p:txBody>
          <a:bodyPr anchor="t" anchorCtr="0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4" y="3977640"/>
            <a:ext cx="8624088" cy="5541264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Font typeface="System Font Regular"/>
              <a:buChar char="-"/>
              <a:defRPr sz="3000"/>
            </a:lvl1pPr>
            <a:lvl2pPr>
              <a:lnSpc>
                <a:spcPct val="100000"/>
              </a:lnSpc>
              <a:defRPr sz="3000"/>
            </a:lvl2pPr>
            <a:lvl3pPr>
              <a:lnSpc>
                <a:spcPct val="100000"/>
              </a:lnSpc>
              <a:defRPr sz="30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410" y="9658350"/>
            <a:ext cx="587310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9516" y="9658350"/>
            <a:ext cx="1689180" cy="628650"/>
          </a:xfrm>
        </p:spPr>
        <p:txBody>
          <a:bodyPr/>
          <a:lstStyle/>
          <a:p>
            <a:fld id="{8A60B404-9532-4DA8-8A40-EC339A5BE63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696" y="9658350"/>
            <a:ext cx="1057596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0" y="0"/>
            <a:ext cx="73152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7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15" y="1672284"/>
            <a:ext cx="5885183" cy="612537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1919" y="1672935"/>
            <a:ext cx="8714570" cy="7756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72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552" y="1671983"/>
            <a:ext cx="4156989" cy="551332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799" y="1693718"/>
            <a:ext cx="11691347" cy="773603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01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682" y="1666652"/>
            <a:ext cx="9509118" cy="17145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6759878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78681" y="3604331"/>
            <a:ext cx="9509121" cy="582542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78682" y="9658350"/>
            <a:ext cx="716235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3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487" y="1668156"/>
            <a:ext cx="10982423" cy="139903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4113" y="3280887"/>
            <a:ext cx="11023689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4114" y="9658350"/>
            <a:ext cx="867692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4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91" y="1668156"/>
            <a:ext cx="11015346" cy="139903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0090" y="3280887"/>
            <a:ext cx="11015348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0091" y="9658350"/>
            <a:ext cx="866858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3981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3283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998339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11448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00" y="1673605"/>
            <a:ext cx="7107875" cy="193225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2288" y="3828186"/>
            <a:ext cx="7107675" cy="56015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2100" y="9658350"/>
            <a:ext cx="4761098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528507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7809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0"/>
            <a:ext cx="91440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4625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95" y="1666652"/>
            <a:ext cx="5720768" cy="2240795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7596" y="4051007"/>
            <a:ext cx="5720769" cy="537874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7593" y="9658350"/>
            <a:ext cx="337400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156906" y="9658350"/>
            <a:ext cx="1297056" cy="62865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6208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8348" y="0"/>
            <a:ext cx="10499652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09723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841311" y="1668647"/>
            <a:ext cx="4846490" cy="27884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11222666" cy="10287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51920" y="4699883"/>
            <a:ext cx="4835880" cy="39843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41311" y="9658350"/>
            <a:ext cx="249972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38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986" y="5981704"/>
            <a:ext cx="4567431" cy="346467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"/>
            <a:ext cx="18288000" cy="5164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83903" y="5981704"/>
            <a:ext cx="11190044" cy="346467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61726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14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0" y="1681485"/>
            <a:ext cx="15715980" cy="145389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3429012"/>
            <a:ext cx="9144000" cy="6857988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037618" y="3429012"/>
            <a:ext cx="7314773" cy="60007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037617" y="9658350"/>
            <a:ext cx="4438727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82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83301"/>
            <a:ext cx="5545289" cy="225773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71651" y="4260272"/>
            <a:ext cx="5410049" cy="516947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70510" y="1683302"/>
            <a:ext cx="9903437" cy="774644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740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56" y="7135790"/>
            <a:ext cx="9716844" cy="1689831"/>
          </a:xfrm>
        </p:spPr>
        <p:txBody>
          <a:bodyPr anchor="b">
            <a:normAutofit/>
          </a:bodyPr>
          <a:lstStyle>
            <a:lvl1pPr algn="r">
              <a:defRPr sz="3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444" y="96012"/>
            <a:ext cx="18041112" cy="6900888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6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500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33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929392"/>
            <a:ext cx="15979140" cy="17007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2204" y="1558643"/>
            <a:ext cx="14127480" cy="760510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9000" b="1"/>
            </a:lvl1pPr>
            <a:lvl2pPr marL="342900" indent="0">
              <a:lnSpc>
                <a:spcPct val="90000"/>
              </a:lnSpc>
              <a:buNone/>
              <a:defRPr sz="9000" b="1"/>
            </a:lvl2pPr>
            <a:lvl3pPr marL="685800" indent="0">
              <a:lnSpc>
                <a:spcPct val="90000"/>
              </a:lnSpc>
              <a:buNone/>
              <a:defRPr sz="9000" b="1"/>
            </a:lvl3pPr>
            <a:lvl4pPr marL="1028700" indent="0">
              <a:lnSpc>
                <a:spcPct val="90000"/>
              </a:lnSpc>
              <a:buNone/>
              <a:defRPr sz="9000" b="1"/>
            </a:lvl4pPr>
            <a:lvl5pPr marL="1371600" indent="0">
              <a:lnSpc>
                <a:spcPct val="90000"/>
              </a:lnSpc>
              <a:buNone/>
              <a:defRPr sz="9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536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0" y="8127541"/>
            <a:ext cx="15087600" cy="699518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2875" y="95250"/>
            <a:ext cx="17966532" cy="762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12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9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78698"/>
            <a:ext cx="14835099" cy="180689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3278" y="3660852"/>
            <a:ext cx="7262258" cy="570192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3660853"/>
            <a:ext cx="7209003" cy="57019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9328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72994"/>
            <a:ext cx="14924183" cy="1258284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133" y="2884785"/>
            <a:ext cx="7224713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23224" y="2884785"/>
            <a:ext cx="7237370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133" y="4238687"/>
            <a:ext cx="7224713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23224" y="4238687"/>
            <a:ext cx="7237370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812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56150"/>
            <a:ext cx="14884146" cy="1941342"/>
          </a:xfrm>
        </p:spPr>
        <p:txBody>
          <a:bodyPr>
            <a:normAutofit/>
          </a:bodyPr>
          <a:lstStyle>
            <a:lvl1pPr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117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791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2203"/>
            <a:ext cx="15941742" cy="3126827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2" y="4914900"/>
            <a:ext cx="15941744" cy="474345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067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5" y="1632204"/>
            <a:ext cx="12646151" cy="2763030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15820" y="6370038"/>
            <a:ext cx="12645959" cy="241201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665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8"/>
            <a:ext cx="14884146" cy="1403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204" y="3179618"/>
            <a:ext cx="14884146" cy="6250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2204" y="9658350"/>
            <a:ext cx="12844140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76344" y="9658350"/>
            <a:ext cx="1297056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85646" y="9658350"/>
            <a:ext cx="902154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35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2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5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0309" y="-32004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4389120" cy="10287000"/>
            <a:chOff x="0" y="0"/>
            <a:chExt cx="585216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13716000"/>
            </a:xfrm>
            <a:custGeom>
              <a:avLst/>
              <a:gdLst/>
              <a:ahLst/>
              <a:cxnLst/>
              <a:rect l="l" t="t" r="r" b="b"/>
              <a:pathLst>
                <a:path w="5852160" h="13716000">
                  <a:moveTo>
                    <a:pt x="0" y="0"/>
                  </a:moveTo>
                  <a:lnTo>
                    <a:pt x="5852160" y="0"/>
                  </a:lnTo>
                  <a:lnTo>
                    <a:pt x="58521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980" y="1095375"/>
            <a:ext cx="2560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INDUSTRY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2980" y="1644015"/>
            <a:ext cx="29718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READINESS PROGRAM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03520" y="1577340"/>
            <a:ext cx="1188720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INTERVIEW WITH AN</a:t>
            </a:r>
          </a:p>
          <a:p>
            <a:pPr algn="l">
              <a:lnSpc>
                <a:spcPts val="6120"/>
              </a:lnSpc>
            </a:pPr>
            <a:r>
              <a:rPr lang="en-US" sz="51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INDIAN ARMY VETERAN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39512" y="3771900"/>
            <a:ext cx="2057400" cy="109728"/>
            <a:chOff x="0" y="0"/>
            <a:chExt cx="2743200" cy="1463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3200" cy="146304"/>
            </a:xfrm>
            <a:custGeom>
              <a:avLst/>
              <a:gdLst/>
              <a:ahLst/>
              <a:cxnLst/>
              <a:rect l="l" t="t" r="r" b="b"/>
              <a:pathLst>
                <a:path w="2743200" h="146304">
                  <a:moveTo>
                    <a:pt x="0" y="0"/>
                  </a:moveTo>
                  <a:lnTo>
                    <a:pt x="2743200" y="0"/>
                  </a:lnTo>
                  <a:lnTo>
                    <a:pt x="2743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E9943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330952" y="4171950"/>
            <a:ext cx="1106424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2603A"/>
                </a:solidFill>
                <a:latin typeface="Calibri (MS)"/>
                <a:ea typeface="Calibri (MS)"/>
                <a:cs typeface="Calibri (MS)"/>
                <a:sym typeface="Calibri (MS)"/>
              </a:rPr>
              <a:t>A journey of service, discipline and dedication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04936" y="5479256"/>
            <a:ext cx="10987088" cy="2757488"/>
            <a:chOff x="0" y="0"/>
            <a:chExt cx="14649450" cy="36766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49450" cy="3676650"/>
            </a:xfrm>
            <a:custGeom>
              <a:avLst/>
              <a:gdLst/>
              <a:ahLst/>
              <a:cxnLst/>
              <a:rect l="l" t="t" r="r" b="b"/>
              <a:pathLst>
                <a:path w="14649450" h="367665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14036675" y="0"/>
                  </a:lnTo>
                  <a:cubicBezTo>
                    <a:pt x="14375130" y="0"/>
                    <a:pt x="14649450" y="274320"/>
                    <a:pt x="14649450" y="612775"/>
                  </a:cubicBezTo>
                  <a:lnTo>
                    <a:pt x="14649450" y="3063875"/>
                  </a:lnTo>
                  <a:cubicBezTo>
                    <a:pt x="14649450" y="3402330"/>
                    <a:pt x="14375130" y="3676650"/>
                    <a:pt x="1403667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5852160" y="5915025"/>
            <a:ext cx="393192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315837"/>
            <a:ext cx="4892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Pavan Poojari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21340" y="5915025"/>
            <a:ext cx="393192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21340" y="6315837"/>
            <a:ext cx="4892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Presidency University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52160" y="7122033"/>
            <a:ext cx="393192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ROLL NO.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52160" y="7522845"/>
            <a:ext cx="4892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20261CSE0217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21340" y="7122033"/>
            <a:ext cx="393192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21340" y="7522845"/>
            <a:ext cx="4892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Veteran Interview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980" y="9718548"/>
            <a:ext cx="16276320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F5F5A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Readiness Program  •  1/5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234440"/>
            <a:chOff x="0" y="0"/>
            <a:chExt cx="2438339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645920"/>
            </a:xfrm>
            <a:custGeom>
              <a:avLst/>
              <a:gdLst/>
              <a:ahLst/>
              <a:cxnLst/>
              <a:rect l="l" t="t" r="r" b="b"/>
              <a:pathLst>
                <a:path w="24383364" h="1645920">
                  <a:moveTo>
                    <a:pt x="0" y="0"/>
                  </a:moveTo>
                  <a:lnTo>
                    <a:pt x="24383364" y="0"/>
                  </a:lnTo>
                  <a:lnTo>
                    <a:pt x="24383364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980" y="234315"/>
            <a:ext cx="118872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PERSON I INTERVIEWED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07440" y="360045"/>
            <a:ext cx="338328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DCDC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VETERAN PROFILE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980" y="9718548"/>
            <a:ext cx="16276320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F5F5A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Readiness Program  •  2/5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03820" y="1948815"/>
            <a:ext cx="873252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SUBEDAR KANDU KULE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3820" y="2996565"/>
            <a:ext cx="859536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526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Naik Subedar  •  30 Years of Service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03820" y="4122420"/>
            <a:ext cx="2971800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89920" y="4062222"/>
            <a:ext cx="530352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2323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Naik Subedar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03820" y="5219700"/>
            <a:ext cx="2971800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YEARS OF SERVICE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9920" y="5159502"/>
            <a:ext cx="530352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2323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 Years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03820" y="6316980"/>
            <a:ext cx="2971800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5F5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89920" y="6256782"/>
            <a:ext cx="530352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2323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Indian Army Veteran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475220" y="7338060"/>
            <a:ext cx="8983980" cy="1371600"/>
            <a:chOff x="0" y="0"/>
            <a:chExt cx="11978640" cy="182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78640" cy="1828800"/>
            </a:xfrm>
            <a:custGeom>
              <a:avLst/>
              <a:gdLst/>
              <a:ahLst/>
              <a:cxnLst/>
              <a:rect l="l" t="t" r="r" b="b"/>
              <a:pathLst>
                <a:path w="11978640" h="1828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1673840" y="0"/>
                  </a:lnTo>
                  <a:cubicBezTo>
                    <a:pt x="11842242" y="0"/>
                    <a:pt x="11978640" y="136525"/>
                    <a:pt x="11978640" y="304800"/>
                  </a:cubicBezTo>
                  <a:lnTo>
                    <a:pt x="11978640" y="1524000"/>
                  </a:lnTo>
                  <a:cubicBezTo>
                    <a:pt x="11978640" y="1692402"/>
                    <a:pt x="11842115" y="1828800"/>
                    <a:pt x="11673840" y="1828800"/>
                  </a:cubicBezTo>
                  <a:lnTo>
                    <a:pt x="304800" y="1828800"/>
                  </a:lnTo>
                  <a:cubicBezTo>
                    <a:pt x="136398" y="1828800"/>
                    <a:pt x="0" y="1692275"/>
                    <a:pt x="0" y="1524000"/>
                  </a:cubicBez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046720" y="7642098"/>
            <a:ext cx="7840980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 years of service reflects a lifetime of dedication to the nation.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3265" y="1659064"/>
            <a:ext cx="5583555" cy="8258175"/>
            <a:chOff x="0" y="0"/>
            <a:chExt cx="7444740" cy="11010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444740" cy="11010900"/>
            </a:xfrm>
            <a:custGeom>
              <a:avLst/>
              <a:gdLst/>
              <a:ahLst/>
              <a:cxnLst/>
              <a:rect l="l" t="t" r="r" b="b"/>
              <a:pathLst>
                <a:path w="7444740" h="11010900">
                  <a:moveTo>
                    <a:pt x="0" y="1240790"/>
                  </a:moveTo>
                  <a:cubicBezTo>
                    <a:pt x="0" y="555498"/>
                    <a:pt x="555498" y="0"/>
                    <a:pt x="1240790" y="0"/>
                  </a:cubicBezTo>
                  <a:lnTo>
                    <a:pt x="6203950" y="0"/>
                  </a:lnTo>
                  <a:cubicBezTo>
                    <a:pt x="6889242" y="0"/>
                    <a:pt x="7444740" y="555498"/>
                    <a:pt x="7444740" y="1240790"/>
                  </a:cubicBezTo>
                  <a:lnTo>
                    <a:pt x="7444740" y="9770110"/>
                  </a:lnTo>
                  <a:cubicBezTo>
                    <a:pt x="7444740" y="10455402"/>
                    <a:pt x="6889242" y="11010900"/>
                    <a:pt x="6203950" y="11010900"/>
                  </a:cubicBezTo>
                  <a:lnTo>
                    <a:pt x="1240790" y="11010900"/>
                  </a:lnTo>
                  <a:cubicBezTo>
                    <a:pt x="555498" y="11010900"/>
                    <a:pt x="0" y="10455402"/>
                    <a:pt x="0" y="977011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2603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309782" y="2034540"/>
            <a:ext cx="5148072" cy="7722108"/>
            <a:chOff x="0" y="0"/>
            <a:chExt cx="6931152" cy="10396728"/>
          </a:xfrm>
        </p:grpSpPr>
        <p:sp>
          <p:nvSpPr>
            <p:cNvPr id="23" name="Freeform 23" descr="veteran_photo_final.jpg"/>
            <p:cNvSpPr/>
            <p:nvPr/>
          </p:nvSpPr>
          <p:spPr>
            <a:xfrm>
              <a:off x="0" y="0"/>
              <a:ext cx="6931152" cy="10396728"/>
            </a:xfrm>
            <a:custGeom>
              <a:avLst/>
              <a:gdLst/>
              <a:ahLst/>
              <a:cxnLst/>
              <a:rect l="l" t="t" r="r" b="b"/>
              <a:pathLst>
                <a:path w="6931152" h="10396728">
                  <a:moveTo>
                    <a:pt x="0" y="0"/>
                  </a:moveTo>
                  <a:lnTo>
                    <a:pt x="6931152" y="0"/>
                  </a:lnTo>
                  <a:lnTo>
                    <a:pt x="6931152" y="10396728"/>
                  </a:lnTo>
                  <a:lnTo>
                    <a:pt x="0" y="10396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2455" r="-142455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777983" y="1446924"/>
            <a:ext cx="5778837" cy="12888786"/>
            <a:chOff x="0" y="0"/>
            <a:chExt cx="6931152" cy="154588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31152" cy="15458842"/>
            </a:xfrm>
            <a:custGeom>
              <a:avLst/>
              <a:gdLst/>
              <a:ahLst/>
              <a:cxnLst/>
              <a:rect l="l" t="t" r="r" b="b"/>
              <a:pathLst>
                <a:path w="6931152" h="15458842">
                  <a:moveTo>
                    <a:pt x="0" y="0"/>
                  </a:moveTo>
                  <a:lnTo>
                    <a:pt x="6931152" y="0"/>
                  </a:lnTo>
                  <a:lnTo>
                    <a:pt x="6931152" y="15458842"/>
                  </a:lnTo>
                  <a:lnTo>
                    <a:pt x="0" y="15458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3" r="-11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234440"/>
            <a:chOff x="0" y="0"/>
            <a:chExt cx="2438339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645920"/>
            </a:xfrm>
            <a:custGeom>
              <a:avLst/>
              <a:gdLst/>
              <a:ahLst/>
              <a:cxnLst/>
              <a:rect l="l" t="t" r="r" b="b"/>
              <a:pathLst>
                <a:path w="24383364" h="1645920">
                  <a:moveTo>
                    <a:pt x="0" y="0"/>
                  </a:moveTo>
                  <a:lnTo>
                    <a:pt x="24383364" y="0"/>
                  </a:lnTo>
                  <a:lnTo>
                    <a:pt x="24383364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980" y="234315"/>
            <a:ext cx="118872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INTERVIEW: QUESTIONS &amp; ANSWERS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07440" y="360045"/>
            <a:ext cx="338328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DCDC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980" y="9718548"/>
            <a:ext cx="16276320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F5F5A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Readiness Program  •  3/5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84396" y="1611344"/>
            <a:ext cx="7969568" cy="1852232"/>
            <a:chOff x="0" y="0"/>
            <a:chExt cx="10626090" cy="24696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29868" y="1786509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3372" y="1735836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did you join the Indian Army?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3372" y="2317242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I wanted to serve my country and contribute to the safety and security of the nation.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1156" y="1611344"/>
            <a:ext cx="7969568" cy="1852232"/>
            <a:chOff x="0" y="0"/>
            <a:chExt cx="10626090" cy="24696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596628" y="1786509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00132" y="1735836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was your most memorable experience?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0132" y="2317242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Serving alongside fellow soldiers and facing challenging situations together were memorable experiences.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84396" y="3764756"/>
            <a:ext cx="7969568" cy="1852232"/>
            <a:chOff x="0" y="0"/>
            <a:chExt cx="10626090" cy="24696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29868" y="3939921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3372" y="3889248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was the biggest challenge during your service?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33372" y="4470654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Adapting to difficult conditions while maintaining discipline, courage and responsibility was a major challenge.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51156" y="3764756"/>
            <a:ext cx="7969568" cy="1852232"/>
            <a:chOff x="0" y="0"/>
            <a:chExt cx="10626090" cy="24696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9596628" y="3939921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00132" y="3889248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did 30 years in the Army teach you?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00132" y="4470654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It taught me discipline, patience, teamwork, leadership and dedication.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84396" y="5918168"/>
            <a:ext cx="7969568" cy="1852232"/>
            <a:chOff x="0" y="0"/>
            <a:chExt cx="10626090" cy="246964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229868" y="6093333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33372" y="6042660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qualities should a good soldier have?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33372" y="6624066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Courage, discipline, honesty, teamwork and a strong sense of responsibility.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251156" y="5918168"/>
            <a:ext cx="7969568" cy="1852232"/>
            <a:chOff x="0" y="0"/>
            <a:chExt cx="10626090" cy="24696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626089" cy="2469642"/>
            </a:xfrm>
            <a:custGeom>
              <a:avLst/>
              <a:gdLst/>
              <a:ahLst/>
              <a:cxnLst/>
              <a:rect l="l" t="t" r="r" b="b"/>
              <a:pathLst>
                <a:path w="10626089" h="2469642">
                  <a:moveTo>
                    <a:pt x="0" y="411607"/>
                  </a:moveTo>
                  <a:cubicBezTo>
                    <a:pt x="0" y="184277"/>
                    <a:pt x="184277" y="0"/>
                    <a:pt x="411607" y="0"/>
                  </a:cubicBezTo>
                  <a:lnTo>
                    <a:pt x="10214483" y="0"/>
                  </a:lnTo>
                  <a:cubicBezTo>
                    <a:pt x="10441813" y="0"/>
                    <a:pt x="10626089" y="184277"/>
                    <a:pt x="10626089" y="411607"/>
                  </a:cubicBezTo>
                  <a:lnTo>
                    <a:pt x="10626089" y="2058035"/>
                  </a:lnTo>
                  <a:cubicBezTo>
                    <a:pt x="10626089" y="2285365"/>
                    <a:pt x="10441813" y="2469642"/>
                    <a:pt x="10214483" y="2469642"/>
                  </a:cubicBezTo>
                  <a:lnTo>
                    <a:pt x="411607" y="2469642"/>
                  </a:lnTo>
                  <a:cubicBezTo>
                    <a:pt x="184277" y="2469642"/>
                    <a:pt x="0" y="2285365"/>
                    <a:pt x="0" y="2058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9596628" y="6093333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00132" y="6042660"/>
            <a:ext cx="664768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advice would you give to students?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00132" y="6624066"/>
            <a:ext cx="6647688" cy="101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Work hard, stay disciplined, respect others and remain committed to your goals.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84396" y="8071580"/>
            <a:ext cx="16473488" cy="1221296"/>
            <a:chOff x="0" y="0"/>
            <a:chExt cx="21964650" cy="16283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964650" cy="1628394"/>
            </a:xfrm>
            <a:custGeom>
              <a:avLst/>
              <a:gdLst/>
              <a:ahLst/>
              <a:cxnLst/>
              <a:rect l="l" t="t" r="r" b="b"/>
              <a:pathLst>
                <a:path w="21964650" h="1628394">
                  <a:moveTo>
                    <a:pt x="0" y="271399"/>
                  </a:moveTo>
                  <a:cubicBezTo>
                    <a:pt x="0" y="121539"/>
                    <a:pt x="121539" y="0"/>
                    <a:pt x="271399" y="0"/>
                  </a:cubicBezTo>
                  <a:lnTo>
                    <a:pt x="21693251" y="0"/>
                  </a:lnTo>
                  <a:cubicBezTo>
                    <a:pt x="21843112" y="0"/>
                    <a:pt x="21964650" y="121539"/>
                    <a:pt x="21964650" y="271399"/>
                  </a:cubicBezTo>
                  <a:lnTo>
                    <a:pt x="21964650" y="1356995"/>
                  </a:lnTo>
                  <a:cubicBezTo>
                    <a:pt x="21964650" y="1506855"/>
                    <a:pt x="21843112" y="1628394"/>
                    <a:pt x="21693251" y="1628394"/>
                  </a:cubicBezTo>
                  <a:lnTo>
                    <a:pt x="271399" y="1628394"/>
                  </a:lnTo>
                  <a:cubicBezTo>
                    <a:pt x="121539" y="1628394"/>
                    <a:pt x="0" y="1506855"/>
                    <a:pt x="0" y="13569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0D6"/>
              </a:solidFill>
              <a:prstDash val="solid"/>
              <a:miter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229868" y="8246745"/>
            <a:ext cx="39319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33372" y="8196072"/>
            <a:ext cx="15151608" cy="41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does serving the nation mean to you?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33372" y="8777478"/>
            <a:ext cx="15151608" cy="38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It is a matter of pride and responsibility—putting the nation's interests above personal comfort.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234440"/>
            <a:chOff x="0" y="0"/>
            <a:chExt cx="2438339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645920"/>
            </a:xfrm>
            <a:custGeom>
              <a:avLst/>
              <a:gdLst/>
              <a:ahLst/>
              <a:cxnLst/>
              <a:rect l="l" t="t" r="r" b="b"/>
              <a:pathLst>
                <a:path w="24383364" h="1645920">
                  <a:moveTo>
                    <a:pt x="0" y="0"/>
                  </a:moveTo>
                  <a:lnTo>
                    <a:pt x="24383364" y="0"/>
                  </a:lnTo>
                  <a:lnTo>
                    <a:pt x="24383364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980" y="234315"/>
            <a:ext cx="118872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EXPERIENCE WITH THE VETERAN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07440" y="360045"/>
            <a:ext cx="338328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DCDC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REFLECTION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2980" y="9718548"/>
            <a:ext cx="16276320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F5F5A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Readiness Program  •  4/5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0120" y="1851660"/>
            <a:ext cx="5623560" cy="7200900"/>
            <a:chOff x="0" y="0"/>
            <a:chExt cx="7498080" cy="960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98080" cy="9601200"/>
            </a:xfrm>
            <a:custGeom>
              <a:avLst/>
              <a:gdLst/>
              <a:ahLst/>
              <a:cxnLst/>
              <a:rect l="l" t="t" r="r" b="b"/>
              <a:pathLst>
                <a:path w="7498080" h="9601200">
                  <a:moveTo>
                    <a:pt x="0" y="1249680"/>
                  </a:moveTo>
                  <a:cubicBezTo>
                    <a:pt x="0" y="559562"/>
                    <a:pt x="559562" y="0"/>
                    <a:pt x="1249680" y="0"/>
                  </a:cubicBezTo>
                  <a:lnTo>
                    <a:pt x="6248400" y="0"/>
                  </a:lnTo>
                  <a:cubicBezTo>
                    <a:pt x="6938645" y="0"/>
                    <a:pt x="7498080" y="559562"/>
                    <a:pt x="7498080" y="1249680"/>
                  </a:cubicBezTo>
                  <a:lnTo>
                    <a:pt x="7498080" y="8351520"/>
                  </a:lnTo>
                  <a:cubicBezTo>
                    <a:pt x="7498080" y="9041764"/>
                    <a:pt x="6938518" y="9601200"/>
                    <a:pt x="6248400" y="9601200"/>
                  </a:cubicBezTo>
                  <a:lnTo>
                    <a:pt x="1249680" y="9601200"/>
                  </a:lnTo>
                  <a:cubicBezTo>
                    <a:pt x="559562" y="9601200"/>
                    <a:pt x="0" y="9041638"/>
                    <a:pt x="0" y="8351520"/>
                  </a:cubicBezTo>
                  <a:close/>
                </a:path>
              </a:pathLst>
            </a:custGeom>
            <a:solidFill>
              <a:srgbClr val="1F2D23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531620" y="2712720"/>
            <a:ext cx="4480560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“The interview helped me understand the value of discipline, courage and service.”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0200" y="6248400"/>
            <a:ext cx="434340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KEY TAKEAWAY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1620" y="6865620"/>
            <a:ext cx="4480560" cy="11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Respect is earned through responsibility, consistency and dedication.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60920" y="1948815"/>
            <a:ext cx="8732520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 learned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0920" y="3025140"/>
            <a:ext cx="43434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3880" y="2988183"/>
            <a:ext cx="2766060" cy="39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Discipline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64240" y="2997708"/>
            <a:ext cx="53035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Small habits and consistency build strong character.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60920" y="4424172"/>
            <a:ext cx="43434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83880" y="4387215"/>
            <a:ext cx="2766060" cy="39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Responsibility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64240" y="4396740"/>
            <a:ext cx="53035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Serving others requires commitment and accountability.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0920" y="5823204"/>
            <a:ext cx="43434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83880" y="5786247"/>
            <a:ext cx="2766060" cy="39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Teamwork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64240" y="5795772"/>
            <a:ext cx="53035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Trust and cooperation are essential when facing challenges.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60920" y="7222236"/>
            <a:ext cx="43434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83880" y="7185279"/>
            <a:ext cx="2766060" cy="39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F2D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Dedication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64240" y="7194804"/>
            <a:ext cx="53035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Long-term success requires patience and determination.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2D2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475220" y="1714500"/>
            <a:ext cx="3291840" cy="109728"/>
            <a:chOff x="0" y="0"/>
            <a:chExt cx="4389120" cy="146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146304"/>
            </a:xfrm>
            <a:custGeom>
              <a:avLst/>
              <a:gdLst/>
              <a:ahLst/>
              <a:cxnLst/>
              <a:rect l="l" t="t" r="r" b="b"/>
              <a:pathLst>
                <a:path w="4389120" h="146304">
                  <a:moveTo>
                    <a:pt x="0" y="0"/>
                  </a:moveTo>
                  <a:lnTo>
                    <a:pt x="4389120" y="0"/>
                  </a:lnTo>
                  <a:lnTo>
                    <a:pt x="4389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E994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834640" y="2175510"/>
            <a:ext cx="12573000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4640" y="3682365"/>
            <a:ext cx="12710160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E1E1D7"/>
                </a:solidFill>
                <a:latin typeface="Calibri (MS)"/>
                <a:ea typeface="Calibri (MS)"/>
                <a:cs typeface="Calibri (MS)"/>
                <a:sym typeface="Calibri (MS)"/>
              </a:rPr>
              <a:t>“A soldier’s service may end, but the values of courage,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E1E1D7"/>
                </a:solidFill>
                <a:latin typeface="Calibri (MS)"/>
                <a:ea typeface="Calibri (MS)"/>
                <a:cs typeface="Calibri (MS)"/>
                <a:sym typeface="Calibri (MS)"/>
              </a:rPr>
              <a:t>discipline and dedication remain forever.”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0" y="6063615"/>
            <a:ext cx="9829800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BE99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JAI HIND!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06240" y="7139940"/>
            <a:ext cx="98298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 Pavan Poojari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06240" y="7716012"/>
            <a:ext cx="982980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2D2C8"/>
                </a:solidFill>
                <a:latin typeface="Calibri (MS)"/>
                <a:ea typeface="Calibri (MS)"/>
                <a:cs typeface="Calibri (MS)"/>
                <a:sym typeface="Calibri (MS)"/>
              </a:rPr>
              <a:t>20261CSE0217  •  Presidency University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980" y="9718548"/>
            <a:ext cx="16276320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AAAFA5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Readiness Program  •  5/5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15</TotalTime>
  <Words>382</Words>
  <Application>Microsoft Office PowerPoint</Application>
  <PresentationFormat>Custom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(MS) Bold</vt:lpstr>
      <vt:lpstr>Arial</vt:lpstr>
      <vt:lpstr>System Font Regular</vt:lpstr>
      <vt:lpstr>Calibri (MS)</vt:lpstr>
      <vt:lpstr>Neue Haas Grotesk Text Pro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Indian_Army_Veteran_Interview_Large_Font_PPT.pptx</dc:title>
  <dc:creator>Rohitkumar hanchinal</dc:creator>
  <cp:lastModifiedBy>Rohitkumar hanchinal</cp:lastModifiedBy>
  <cp:revision>2</cp:revision>
  <dcterms:created xsi:type="dcterms:W3CDTF">2006-08-16T00:00:00Z</dcterms:created>
  <dcterms:modified xsi:type="dcterms:W3CDTF">2026-10-05T11:16:12Z</dcterms:modified>
  <dc:identifier>DAHXIp8OK54</dc:identifier>
</cp:coreProperties>
</file>